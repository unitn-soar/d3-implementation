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c69061bf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c69061bf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16;p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/>
              <a:t>Soar Project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it" sz="2200">
                <a:solidFill>
                  <a:srgbClr val="434343"/>
                </a:solidFill>
              </a:rPr>
              <a:t>Flight Reservation and Management System Software</a:t>
            </a:r>
            <a:endParaRPr sz="2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85200" y="2825850"/>
            <a:ext cx="21636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it" sz="1900">
                <a:solidFill>
                  <a:srgbClr val="EFEFEF"/>
                </a:solidFill>
              </a:rPr>
              <a:t>D’Ignazio Donato</a:t>
            </a:r>
            <a:endParaRPr b="1" sz="1900">
              <a:solidFill>
                <a:srgbClr val="EFEFE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it" sz="1900">
                <a:solidFill>
                  <a:srgbClr val="EFEFEF"/>
                </a:solidFill>
              </a:rPr>
              <a:t>Li Yifeng</a:t>
            </a:r>
            <a:endParaRPr b="1" sz="1900">
              <a:solidFill>
                <a:srgbClr val="EFEFE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it" sz="1900">
                <a:solidFill>
                  <a:srgbClr val="EFEFEF"/>
                </a:solidFill>
              </a:rPr>
              <a:t>Meduri Lorenzo</a:t>
            </a:r>
            <a:endParaRPr b="1" sz="1900">
              <a:solidFill>
                <a:srgbClr val="EFEFE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it" sz="1900">
                <a:solidFill>
                  <a:srgbClr val="EFEFEF"/>
                </a:solidFill>
              </a:rPr>
              <a:t>Pedrotti Filippo</a:t>
            </a:r>
            <a:endParaRPr b="1" sz="1900">
              <a:solidFill>
                <a:srgbClr val="EFEFEF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92600" y="4604500"/>
            <a:ext cx="8554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it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Software Engineering						University of Trento							23/06/2026</a:t>
            </a:r>
            <a:endParaRPr b="0" i="0" sz="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265500" y="477375"/>
            <a:ext cx="40452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741"/>
              <a:buNone/>
            </a:pPr>
            <a:r>
              <a:rPr lang="it" sz="3000"/>
              <a:t>Project Overview</a:t>
            </a:r>
            <a:endParaRPr sz="3000"/>
          </a:p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245550" y="1963450"/>
            <a:ext cx="4085100" cy="27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600" u="none" cap="none" strike="noStrike">
                <a:solidFill>
                  <a:srgbClr val="434343"/>
                </a:solidFill>
              </a:rPr>
              <a:t>Project Objectives:</a:t>
            </a:r>
            <a:endParaRPr b="1" i="0" sz="1600" u="none" cap="none" strike="noStrike"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b="1" i="0" lang="it" u="none" cap="none" strike="noStrike">
                <a:solidFill>
                  <a:srgbClr val="434343"/>
                </a:solidFill>
              </a:rPr>
              <a:t>Check available flights </a:t>
            </a:r>
            <a:endParaRPr b="1" i="0" u="none" cap="none" strike="noStrike"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b="1" i="0" lang="it" u="none" cap="none" strike="noStrike">
                <a:solidFill>
                  <a:srgbClr val="434343"/>
                </a:solidFill>
              </a:rPr>
              <a:t>Ticket purchase and management </a:t>
            </a:r>
            <a:endParaRPr b="1" i="0" u="none" cap="none" strike="noStrike"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b="1" i="0" lang="it" u="none" cap="none" strike="noStrike">
                <a:solidFill>
                  <a:srgbClr val="434343"/>
                </a:solidFill>
              </a:rPr>
              <a:t>Route planning and administrative tasks </a:t>
            </a:r>
            <a:endParaRPr b="1" i="0" u="none" cap="none" strike="noStrike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434343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910925" y="1963450"/>
            <a:ext cx="3740400" cy="27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500" u="none" cap="none" strike="noStrike">
                <a:solidFill>
                  <a:srgbClr val="EFEFEF"/>
                </a:solidFill>
              </a:rPr>
              <a:t>Main Users:</a:t>
            </a:r>
            <a:endParaRPr b="1" i="0" sz="1600" u="none" cap="none" strike="noStrike">
              <a:solidFill>
                <a:srgbClr val="EFEFEF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300"/>
              <a:buChar char="●"/>
            </a:pPr>
            <a:r>
              <a:rPr b="1" i="0" lang="it" sz="1300" u="none" cap="none" strike="noStrike">
                <a:solidFill>
                  <a:srgbClr val="EFEFEF"/>
                </a:solidFill>
              </a:rPr>
              <a:t>Registered Users / Travel Agencies</a:t>
            </a:r>
            <a:endParaRPr b="1" i="0" sz="1300" u="none" cap="none" strike="noStrike">
              <a:solidFill>
                <a:srgbClr val="EFEFEF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300"/>
              <a:buChar char="●"/>
            </a:pPr>
            <a:r>
              <a:rPr b="1" i="0" lang="it" sz="1300" u="none" cap="none" strike="noStrike">
                <a:solidFill>
                  <a:srgbClr val="EFEFEF"/>
                </a:solidFill>
              </a:rPr>
              <a:t>Admins</a:t>
            </a:r>
            <a:endParaRPr b="1" i="0" sz="1300" u="none" cap="none" strike="noStrike">
              <a:solidFill>
                <a:srgbClr val="EFEFEF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300"/>
              <a:buChar char="●"/>
            </a:pPr>
            <a:r>
              <a:rPr b="1" i="0" lang="it" sz="1300" u="none" cap="none" strike="noStrike">
                <a:solidFill>
                  <a:srgbClr val="EFEFEF"/>
                </a:solidFill>
              </a:rPr>
              <a:t>Developers</a:t>
            </a:r>
            <a:endParaRPr b="1" i="0" sz="1300" u="none" cap="none" strike="noStrike">
              <a:solidFill>
                <a:srgbClr val="EFEFE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EFEFE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500" u="none" cap="none" strike="noStrike">
                <a:solidFill>
                  <a:srgbClr val="EFEFEF"/>
                </a:solidFill>
              </a:rPr>
              <a:t>Summary of main Functionalities:</a:t>
            </a:r>
            <a:endParaRPr b="1" i="0" sz="1500" u="none" cap="none" strike="noStrike">
              <a:solidFill>
                <a:srgbClr val="EFEFEF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300"/>
              <a:buChar char="●"/>
            </a:pPr>
            <a:r>
              <a:rPr b="1" i="0" lang="it" sz="1300" u="none" cap="none" strike="noStrike">
                <a:solidFill>
                  <a:srgbClr val="EFEFEF"/>
                </a:solidFill>
              </a:rPr>
              <a:t>Searching Flights</a:t>
            </a:r>
            <a:endParaRPr b="1" i="0" sz="1300" u="none" cap="none" strike="noStrike">
              <a:solidFill>
                <a:srgbClr val="EFEFEF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300"/>
              <a:buChar char="●"/>
            </a:pPr>
            <a:r>
              <a:rPr b="1" i="0" lang="it" sz="1300" u="none" cap="none" strike="noStrike">
                <a:solidFill>
                  <a:srgbClr val="EFEFEF"/>
                </a:solidFill>
              </a:rPr>
              <a:t>Purchasing Tickets</a:t>
            </a:r>
            <a:endParaRPr b="1" i="0" sz="1300" u="none" cap="none" strike="noStrike">
              <a:solidFill>
                <a:srgbClr val="EFEFEF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300"/>
              <a:buChar char="●"/>
            </a:pPr>
            <a:r>
              <a:rPr b="1" i="0" lang="it" sz="1300" u="none" cap="none" strike="noStrike">
                <a:solidFill>
                  <a:srgbClr val="EFEFEF"/>
                </a:solidFill>
              </a:rPr>
              <a:t>Managing Account</a:t>
            </a:r>
            <a:endParaRPr b="1" i="0" sz="1300" u="none" cap="none" strike="noStrike">
              <a:solidFill>
                <a:srgbClr val="EFEFEF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300"/>
              <a:buChar char="●"/>
            </a:pPr>
            <a:r>
              <a:rPr b="1" i="0" lang="it" sz="1300" u="none" cap="none" strike="noStrike">
                <a:solidFill>
                  <a:srgbClr val="EFEFEF"/>
                </a:solidFill>
              </a:rPr>
              <a:t>Editing Flights Database</a:t>
            </a:r>
            <a:endParaRPr b="1" i="0" sz="1300" u="none" cap="none" strike="noStrike">
              <a:solidFill>
                <a:srgbClr val="EFEFEF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300"/>
              <a:buChar char="●"/>
            </a:pPr>
            <a:r>
              <a:rPr b="1" i="0" lang="it" sz="1300" u="none" cap="none" strike="noStrike">
                <a:solidFill>
                  <a:srgbClr val="EFEFEF"/>
                </a:solidFill>
              </a:rPr>
              <a:t>Backup of Database</a:t>
            </a:r>
            <a:endParaRPr b="1" i="0" sz="1300" u="none" cap="none" strike="noStrike">
              <a:solidFill>
                <a:srgbClr val="EFEFE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42500" y="724200"/>
            <a:ext cx="4045200" cy="82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1800"/>
              <a:t>User Interface </a:t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1800"/>
              <a:t>(CLI)</a:t>
            </a:r>
            <a:endParaRPr sz="1800"/>
          </a:p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b="1" lang="it" sz="1400">
                <a:solidFill>
                  <a:srgbClr val="434343"/>
                </a:solidFill>
              </a:rPr>
              <a:t>For unregistered users:</a:t>
            </a:r>
            <a:endParaRPr b="1" sz="1400"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b="1" lang="it" sz="1400">
                <a:solidFill>
                  <a:srgbClr val="434343"/>
                </a:solidFill>
              </a:rPr>
              <a:t>Creation of Account</a:t>
            </a:r>
            <a:endParaRPr b="1" sz="1400"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b="1" lang="it" sz="1400">
                <a:solidFill>
                  <a:srgbClr val="434343"/>
                </a:solidFill>
              </a:rPr>
              <a:t>Access to Account</a:t>
            </a:r>
            <a:endParaRPr b="1" sz="1400"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b="1" lang="it" sz="1400">
                <a:solidFill>
                  <a:srgbClr val="434343"/>
                </a:solidFill>
              </a:rPr>
              <a:t>View and search of Flights</a:t>
            </a:r>
            <a:endParaRPr b="1" sz="1400">
              <a:solidFill>
                <a:srgbClr val="434343"/>
              </a:solidFill>
            </a:endParaRPr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292600" y="4604500"/>
            <a:ext cx="8554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it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Software Engineering						University of Trento							23/06/2026</a:t>
            </a:r>
            <a:endParaRPr b="0" i="0" sz="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5" title="hel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6663" y="156200"/>
            <a:ext cx="2981325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log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1550" y="3470225"/>
            <a:ext cx="195262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regist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3726" y="3418500"/>
            <a:ext cx="2132350" cy="122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91800" y="104150"/>
            <a:ext cx="4045200" cy="82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1800"/>
              <a:t>User Interface </a:t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1800"/>
              <a:t>(CLI)</a:t>
            </a:r>
            <a:endParaRPr sz="1800"/>
          </a:p>
        </p:txBody>
      </p:sp>
      <p:sp>
        <p:nvSpPr>
          <p:cNvPr id="86" name="Google Shape;86;p16"/>
          <p:cNvSpPr txBox="1"/>
          <p:nvPr>
            <p:ph idx="1" type="subTitle"/>
          </p:nvPr>
        </p:nvSpPr>
        <p:spPr>
          <a:xfrm>
            <a:off x="325075" y="1226250"/>
            <a:ext cx="3598200" cy="20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b="1" lang="it" sz="1400">
                <a:solidFill>
                  <a:srgbClr val="434343"/>
                </a:solidFill>
              </a:rPr>
              <a:t>For normal registered users and travel agencies:</a:t>
            </a:r>
            <a:endParaRPr b="1" sz="1400"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b="1" lang="it" sz="1400">
                <a:solidFill>
                  <a:srgbClr val="434343"/>
                </a:solidFill>
              </a:rPr>
              <a:t>View and search of Flights</a:t>
            </a:r>
            <a:endParaRPr b="1" sz="1400"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b="1" lang="it" sz="1400">
                <a:solidFill>
                  <a:srgbClr val="434343"/>
                </a:solidFill>
              </a:rPr>
              <a:t>Purchase of Tickets</a:t>
            </a:r>
            <a:endParaRPr b="1" sz="1400"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b="1" lang="it" sz="1400">
                <a:solidFill>
                  <a:srgbClr val="434343"/>
                </a:solidFill>
              </a:rPr>
              <a:t>View of purchase History</a:t>
            </a:r>
            <a:endParaRPr b="1" sz="1400"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b="1" lang="it" sz="1400">
                <a:solidFill>
                  <a:srgbClr val="434343"/>
                </a:solidFill>
              </a:rPr>
              <a:t>Account Management</a:t>
            </a:r>
            <a:endParaRPr b="1" sz="1400"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b="1" lang="it" sz="1400">
                <a:solidFill>
                  <a:srgbClr val="434343"/>
                </a:solidFill>
              </a:rPr>
              <a:t>Self check-in for Tickets</a:t>
            </a:r>
            <a:endParaRPr b="1" sz="1400">
              <a:solidFill>
                <a:srgbClr val="434343"/>
              </a:solidFill>
            </a:endParaRPr>
          </a:p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292600" y="4604500"/>
            <a:ext cx="8554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it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Software Engineering						University of Trento							23/06/2026</a:t>
            </a:r>
            <a:endParaRPr b="0" i="0" sz="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6" title="buy_tick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3625" y="1800013"/>
            <a:ext cx="5450975" cy="3097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16" title="sadasdewfgra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7250" y="625100"/>
            <a:ext cx="5507351" cy="4526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" name="Google Shape;91;p16" title="gqaegzfbzb.png"/>
          <p:cNvPicPr preferRelativeResize="0"/>
          <p:nvPr/>
        </p:nvPicPr>
        <p:blipFill rotWithShape="1">
          <a:blip r:embed="rId5">
            <a:alphaModFix/>
          </a:blip>
          <a:srcRect b="0" l="0" r="0" t="7304"/>
          <a:stretch/>
        </p:blipFill>
        <p:spPr>
          <a:xfrm>
            <a:off x="292600" y="3565726"/>
            <a:ext cx="3025600" cy="821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 title="Web 1920 –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00" y="2571750"/>
            <a:ext cx="4308576" cy="2423574"/>
          </a:xfrm>
          <a:prstGeom prst="rect">
            <a:avLst/>
          </a:prstGeom>
          <a:noFill/>
          <a:ln cap="flat" cmpd="sng" w="28575">
            <a:solidFill>
              <a:srgbClr val="5E2B9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7" title="Web 1920 – 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7513" y="2571750"/>
            <a:ext cx="4308590" cy="2423574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" name="Google Shape;98;p17"/>
          <p:cNvSpPr txBox="1"/>
          <p:nvPr>
            <p:ph type="title"/>
          </p:nvPr>
        </p:nvSpPr>
        <p:spPr>
          <a:xfrm>
            <a:off x="292600" y="378475"/>
            <a:ext cx="4045200" cy="82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1800"/>
              <a:t>Admin </a:t>
            </a:r>
            <a:r>
              <a:rPr lang="it" sz="1800"/>
              <a:t>Interface </a:t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1800"/>
              <a:t>(Mockup)</a:t>
            </a:r>
            <a:endParaRPr sz="1800"/>
          </a:p>
        </p:txBody>
      </p:sp>
      <p:sp>
        <p:nvSpPr>
          <p:cNvPr id="99" name="Google Shape;99;p17"/>
          <p:cNvSpPr txBox="1"/>
          <p:nvPr>
            <p:ph idx="1" type="subTitle"/>
          </p:nvPr>
        </p:nvSpPr>
        <p:spPr>
          <a:xfrm>
            <a:off x="292588" y="1308576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●"/>
            </a:pPr>
            <a:r>
              <a:rPr b="1" lang="it" sz="1700">
                <a:solidFill>
                  <a:srgbClr val="434343"/>
                </a:solidFill>
              </a:rPr>
              <a:t>Analysis of Data</a:t>
            </a:r>
            <a:endParaRPr b="1" sz="1700">
              <a:solidFill>
                <a:srgbClr val="434343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●"/>
            </a:pPr>
            <a:r>
              <a:rPr b="1" lang="it" sz="1700">
                <a:solidFill>
                  <a:srgbClr val="434343"/>
                </a:solidFill>
              </a:rPr>
              <a:t>Add Flight</a:t>
            </a:r>
            <a:endParaRPr b="1" sz="1700">
              <a:solidFill>
                <a:srgbClr val="434343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●"/>
            </a:pPr>
            <a:r>
              <a:rPr b="1" lang="it" sz="1700">
                <a:solidFill>
                  <a:srgbClr val="434343"/>
                </a:solidFill>
              </a:rPr>
              <a:t>Edit existing Flights</a:t>
            </a:r>
            <a:endParaRPr b="1" sz="1700">
              <a:solidFill>
                <a:srgbClr val="434343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●"/>
            </a:pPr>
            <a:r>
              <a:rPr b="1" lang="it" sz="1700">
                <a:solidFill>
                  <a:srgbClr val="434343"/>
                </a:solidFill>
              </a:rPr>
              <a:t>Delete existing Flight</a:t>
            </a:r>
            <a:endParaRPr b="1" sz="1700">
              <a:solidFill>
                <a:srgbClr val="434343"/>
              </a:solidFill>
            </a:endParaRPr>
          </a:p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292600" y="4604500"/>
            <a:ext cx="8554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it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Software Engineering						University of Trento							23/06/2026</a:t>
            </a:r>
            <a:endParaRPr b="0" i="0" sz="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7" title="Web 1920 – 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7537" y="148175"/>
            <a:ext cx="4308610" cy="2423574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42500" y="724200"/>
            <a:ext cx="4045200" cy="82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1800"/>
              <a:t>Developer </a:t>
            </a:r>
            <a:r>
              <a:rPr lang="it" sz="1800"/>
              <a:t>Interface </a:t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1800"/>
              <a:t>(Mockup)</a:t>
            </a:r>
            <a:endParaRPr sz="1800"/>
          </a:p>
        </p:txBody>
      </p:sp>
      <p:sp>
        <p:nvSpPr>
          <p:cNvPr id="108" name="Google Shape;108;p18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b="1" lang="it" sz="1600">
                <a:solidFill>
                  <a:srgbClr val="434343"/>
                </a:solidFill>
              </a:rPr>
              <a:t>Creation of Backups</a:t>
            </a:r>
            <a:endParaRPr b="1" sz="1600">
              <a:solidFill>
                <a:srgbClr val="434343"/>
              </a:solidFill>
            </a:endParaRPr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292600" y="4604500"/>
            <a:ext cx="8554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it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Software Engineering						University of Trento							23/06/2026</a:t>
            </a:r>
            <a:endParaRPr b="0" i="0" sz="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8" title="Web 1920 –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800" y="1389231"/>
            <a:ext cx="4204502" cy="2365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152750" y="1118275"/>
            <a:ext cx="4045200" cy="9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Security</a:t>
            </a:r>
            <a:endParaRPr/>
          </a:p>
        </p:txBody>
      </p:sp>
      <p:sp>
        <p:nvSpPr>
          <p:cNvPr id="117" name="Google Shape;117;p19"/>
          <p:cNvSpPr txBox="1"/>
          <p:nvPr>
            <p:ph idx="1" type="subTitle"/>
          </p:nvPr>
        </p:nvSpPr>
        <p:spPr>
          <a:xfrm>
            <a:off x="152750" y="1951700"/>
            <a:ext cx="38211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b="1" lang="it" sz="1600">
                <a:solidFill>
                  <a:srgbClr val="434343"/>
                </a:solidFill>
              </a:rPr>
              <a:t>Usage of secure functions to prevent sql injections</a:t>
            </a:r>
            <a:endParaRPr b="1" sz="1600">
              <a:solidFill>
                <a:srgbClr val="43434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b="1" lang="it" sz="1600">
                <a:solidFill>
                  <a:srgbClr val="434343"/>
                </a:solidFill>
              </a:rPr>
              <a:t>Usage of hash functions to store passwords safely</a:t>
            </a:r>
            <a:endParaRPr b="1" sz="1600">
              <a:solidFill>
                <a:srgbClr val="434343"/>
              </a:solidFill>
            </a:endParaRPr>
          </a:p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9" name="Google Shape;119;p19" title="protec.png"/>
          <p:cNvPicPr preferRelativeResize="0"/>
          <p:nvPr/>
        </p:nvPicPr>
        <p:blipFill rotWithShape="1">
          <a:blip r:embed="rId3">
            <a:alphaModFix/>
          </a:blip>
          <a:srcRect b="0" l="0" r="0" t="11229"/>
          <a:stretch/>
        </p:blipFill>
        <p:spPr>
          <a:xfrm>
            <a:off x="3698099" y="3343250"/>
            <a:ext cx="5086376" cy="1345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" name="Google Shape;1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100" y="519775"/>
            <a:ext cx="4473337" cy="1932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